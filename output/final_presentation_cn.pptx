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2B2B2B"/>
                </a:solidFill>
                <a:latin typeface="Microsoft YaHei"/>
              </a:rPr>
              <a:t>典型乘用车轮胎的质量组成（近似）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组成</c:v>
                </c:pt>
              </c:strCache>
            </c:strRef>
          </c:tx>
          <c:dPt>
            <c:idx val="0"/>
            <c:spPr>
              <a:solidFill>
                <a:srgbClr val="2C5F2D"/>
              </a:solidFill>
            </c:spPr>
          </c:dPt>
          <c:dPt>
            <c:idx val="1"/>
            <c:spPr>
              <a:solidFill>
                <a:srgbClr val="2B2B2B"/>
              </a:solidFill>
            </c:spPr>
          </c:dPt>
          <c:dPt>
            <c:idx val="2"/>
            <c:spPr>
              <a:solidFill>
                <a:srgbClr val="6E7B72"/>
              </a:solidFill>
            </c:spPr>
          </c:dPt>
          <c:dPt>
            <c:idx val="3"/>
            <c:spPr>
              <a:solidFill>
                <a:srgbClr val="8FB996"/>
              </a:solidFill>
            </c:spPr>
          </c:dPt>
          <c:dPt>
            <c:idx val="4"/>
            <c:spPr>
              <a:solidFill>
                <a:srgbClr val="E8A33D"/>
              </a:solidFill>
            </c:spPr>
          </c:dPt>
          <c:cat>
            <c:strRef>
              <c:f>Sheet1!$A$2:$A$6</c:f>
              <c:strCache>
                <c:ptCount val="5"/>
                <c:pt idx="0">
                  <c:v>橡胶（天然+合成）</c:v>
                </c:pt>
                <c:pt idx="1">
                  <c:v>炭黑</c:v>
                </c:pt>
                <c:pt idx="2">
                  <c:v>钢丝</c:v>
                </c:pt>
                <c:pt idx="3">
                  <c:v>纤维/织物</c:v>
                </c:pt>
                <c:pt idx="4">
                  <c:v>其他添加剂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5</c:v>
                </c:pt>
                <c:pt idx="4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solidFill>
                <a:srgbClr val="2B2B2B"/>
              </a:solidFill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2B2B2B"/>
                </a:solidFill>
                <a:latin typeface="Microsoft YaHei"/>
              </a:rPr>
              <a:t>典型废轮胎热解产物产率（质量%，近似范围）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产率</c:v>
                </c:pt>
              </c:strCache>
            </c:strRef>
          </c:tx>
          <c:dPt>
            <c:idx val="0"/>
            <c:spPr>
              <a:solidFill>
                <a:srgbClr val="BE6B3A"/>
              </a:solidFill>
            </c:spPr>
          </c:dPt>
          <c:dPt>
            <c:idx val="1"/>
            <c:spPr>
              <a:solidFill>
                <a:srgbClr val="2B2B2B"/>
              </a:solidFill>
            </c:spPr>
          </c:dPt>
          <c:dPt>
            <c:idx val="2"/>
            <c:spPr>
              <a:solidFill>
                <a:srgbClr val="6E7B72"/>
              </a:solidFill>
            </c:spPr>
          </c:dPt>
          <c:dPt>
            <c:idx val="3"/>
            <c:spPr>
              <a:solidFill>
                <a:srgbClr val="E8A33D"/>
              </a:solidFill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1100" b="1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热解油</c:v>
                </c:pt>
                <c:pt idx="1">
                  <c:v>炭黑(回收炭)</c:v>
                </c:pt>
                <c:pt idx="2">
                  <c:v>钢丝</c:v>
                </c:pt>
                <c:pt idx="3">
                  <c:v>可燃气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33</c:v>
                </c:pt>
                <c:pt idx="2">
                  <c:v>12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B2B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大家好。今天我汇报的主题是废旧轮胎的回收与资源化利用。轮胎是现代交通不可缺少的部件，但报废之后却是典型的固体废物——俗称'黑色污染'。我会从它为什么是个环境难题讲起，再依次介绍主流的资源化技术路线、它们的对比、目前的争议与瓶颈，最后落到循环经济和未来发展方向。整个汇报大约十三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说明问题的规模。我国是轮胎生产和消费大国，每年新增报废轮胎大约三亿条，对应重量超过一千万吨，而且随着汽车保有量上升还在增长。轮胎以橡胶为主、加上炭黑和钢丝，在自然环境里上百年都难以降解。如果只是露天堆放或填埋，会带来四类风险：一是整胎中空积水、滋生蚊虫；二是极易起火且很难扑灭；三是添加剂和重金属淋溶污染土壤水体；四是把本可回收的优质资源白白浪费。所以废旧轮胎既是环境负担，也是放错位置的资源。强调：这里的数字是行业公开估算，用来说明量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'为什么值得回收'。一条轮胎不是单一材料，而是橡胶、炭黑、钢丝和纤维的复合体。右边的环形图给出典型乘用车胎的质量组成：橡胶约百分之四十五，炭黑约四分之一，钢丝约百分之十五，其余是纤维和各种添加剂。关键结论是——大约九成质量都是可循环利用的材料。所以问题的核心不是'怎么扔掉'，而是'怎么把这些资源高值化地拿回来'，这就引出后面的技术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篇的'地图'。废物管理有一个通行的优先级，常被概括为4R：减量化、再利用、再生利用、能量回收，价值和环境效益从左到右递减。减量化是从源头减少报废，比如耐磨设计、合理充气延长寿命；再利用是保留制品形态，比如翻新和整胎工程利用，能耗最低；再生利用是把材料重新拿回来，包括胶粉、再生胶和热解；能量回收是当替代燃料、只回收热值，价值最低。核心思想就一句话：能高值利用就不要低值处置。后面四条路线，正好对应这张图里的不同层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这页开始进入具体的技术路线，顺序大致按价值从高到低。第一条是原形利用和翻新，也是最该优先做的。翻新是把还完好的胎体重新贴一层新胎面再硫化，在载重胎和航空胎上很常见，一条胎体可以翻新一到三次，按行驶里程算很划算。整胎直接利用则是把废胎用在土木工程的护坡挡墙、港口码头的护舷防撞、以及人工鱼礁、隔音墙等。它放第一位的原因在右边：保留了轮胎的形态和结构，不需要破碎和高温处理，所以单位能耗和碳排放最低，资源价值保留得最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条路线是胶粉利用，也是目前规模最大的方向之一。流程是把废胎破碎除掉钢丝和纤维，再常温或低温研磨成不同目数的胶粉，然后进入下游。最重要的四个出路：一是橡胶改性沥青，把胶粉掺进道路沥青，能提升抗裂、抗车辙和降噪，吸纳量很大；二是弹性铺装，比如塑胶跑道和运动场地；三是各类再生橡胶制品；四是建材和土木填料。要点是：胶粉技术成熟、规模大，但大多属于等值或降级利用；其中改性沥青因为用量大、性能好，被当作重点推广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条路线是再生胶，要先理解橡胶为什么难回收：硫化让橡胶分子形成三维交联网络，既不熔化也不溶解。再生、也叫脱硫，目标就是有选择地切断硫交联键，让它恢复一部分塑性，能重新加工。方法分三类：物理法靠机械、热、超声、微波等输入能量；化学法加再生剂促进断键；生物法用微生物或酶，更绿色但速度慢。再生胶的好处是能部分替代生胶、节约成本，工艺也成熟；局限是力学性能比原胶差、掺用比例有限，传统工艺还可能有异味废气，所以现在都在往绿色脱硫和高性能再生方向升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条路线是热解，也是近年最受关注的化学回收方式，我重点讲。做法是把破碎除杂后的胶块放进缺氧或无氧的反应器，加热到大约四百到六百摄氏度，让橡胶大分子热裂解，再经过冷凝和气固分离，得到液、固、气三相产物，可以说是'一胎四宝'：热解油大约占四成多，可作燃料或化工原料；回收炭黑约三分之一，可做补强填料或进一步做活性炭；钢丝约一成多，直接回炉炼钢；还有约一成可燃气，通常回用给反应器供热，实现能量自给。它的优势是几乎全组分回收、理论上不留残渣；但产率受原料和工艺影响很大，而且产品品质和尾气控制是关键——这正好引出下一页的争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四条路线放在一起对比。表格按4R层级排列，右边用星号做一个定性的'相对价值'示意，注意这不是定量打分。可以看到：翻新和整胎利用价值最高，但能用的胎体有限、市场也比较分散；胶粉和再生胶规模大、技术成熟，但多是降级利用，还受政策和需求影响；热解能全组分回收、价值较高，难点在产品品质波动、尾气治理和经济性;能量回收只拿热值，价值最低，排放必须严格控制。结论是没有万能解，实际应当按胎源、规模和政策,把几条路线组合起来、分级利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讲的技术听起来都很好，但落地还有四道坎。第一,回收体系散而乱:以个体回收为主、胎源分散,正规企业经常吃不饱,而小作坊又难监管。第二,二次污染:一些土法炼油和落后的热解装置,尾气废水处理不达标,反而制造了新的污染。第三,低值化和同质化:很多产能挤在低端产品,真正高值、差异化的利用还不够。第四,标准和经济性:产品标准和激励政策还不完善,有些路线的盈利甚至依赖补贴。这四点决定了行业还不能完全靠市场自发跑通,需要制度来托底,这就引出循环经济的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针对这些瓶颈,综合的出路可以概括成两条。第一是分级利用:严格按价值优先的顺序处置——能翻新、整胎利用就别破碎;其次是胶粉、再生胶;再次是热解这类化学回收;能量回收和安全处置只作兜底。第二是制度,核心是生产者责任延伸,也就是EPR:谁生产、谁就要对回收负责,用押金、回收目标、生态设计等手段,把回收的责任和成本内部化。两者结合,就能把右边这个'生产—使用—回收—资源化—再入产业链'的闭环真正转起来,这就是循环经济在废旧轮胎上的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向未来,行业升级有四个方向。一是绿色低碳工艺:把热解做成连续化、清洁化,推广绿色脱硫,让过程能量自给、尾气深度治理;二是产品高值化,比如热解油提质、回收炭黑改性、做活性炭,提升附加值;三是智能回收体系,用数字化溯源、智能分拣和区域化网络,把正规回收率提上来;四是绿色设计加政策协同,从源头设计就考虑可回收、易翻新,再用EPR、标准和激励一起推动。一句话概括这条主线:从'处理废物'转向'经营资源',靠技术、产品、体系和政策四轮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做个小结,四句话。第一,废旧轮胎是负担、更是资源,约九成质量都能循环;第二,技术路线要分级、各有取舍,从翻新到胶粉、再生胶、热解,再到能量回收,价值递减、相互补充;第三,真正的瓶颈不在单项技术,而在回收体系、二次污染、低值化和标准;第四,出路是循环经济——靠分级利用加生产者责任,推动绿色、高值和智能化升级。对我们环境工程专业来说,这正是一个兼具环境效益和经济价值的实践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我的汇报到这里,谢谢大家,欢迎老师和同学批评指正。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19" y="4023360"/>
            <a:ext cx="3291840" cy="3291840"/>
          </a:xfrm>
          <a:prstGeom prst="ellipse">
            <a:avLst/>
          </a:prstGeom>
          <a:noFill/>
          <a:ln w="1778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4434840"/>
            <a:ext cx="2468880" cy="2468880"/>
          </a:xfrm>
          <a:prstGeom prst="ellipse">
            <a:avLst/>
          </a:prstGeom>
          <a:noFill/>
          <a:ln w="1778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645920" cy="1645920"/>
          </a:xfrm>
          <a:prstGeom prst="ellipse">
            <a:avLst/>
          </a:prstGeom>
          <a:noFill/>
          <a:ln w="1778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95560" y="5257800"/>
            <a:ext cx="822960" cy="822960"/>
          </a:xfrm>
          <a:prstGeom prst="ellipse">
            <a:avLst/>
          </a:prstGeom>
          <a:solidFill>
            <a:srgbClr val="2C5F2D"/>
          </a:solidFill>
          <a:ln w="1778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2286000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环境工程 · 资源循环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0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废旧轮胎的回收</a:t>
            </a:r>
          </a:p>
          <a:p>
            <a:pPr algn="l">
              <a:lnSpc>
                <a:spcPct val="104000"/>
              </a:lnSpc>
            </a:pPr>
            <a:r>
              <a:rPr sz="5000" b="1" i="0">
                <a:solidFill>
                  <a:srgbClr val="8FB996"/>
                </a:solidFill>
                <a:latin typeface="Arial"/>
                <a:ea typeface="Microsoft YaHei"/>
                <a:cs typeface="Microsoft YaHei"/>
              </a:rPr>
              <a:t>与</a:t>
            </a:r>
            <a:r>
              <a:rPr sz="500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资源化利用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从“黑色污染”到循环经济：技术路线、价值分级与发展趋势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" y="4928616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18888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专题汇报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汇报人：（姓名）</a:t>
            </a:r>
          </a:p>
          <a:p>
            <a:pPr algn="l"/>
            <a:r>
              <a:rPr sz="1100" b="0" i="0">
                <a:solidFill>
                  <a:srgbClr val="8FB996"/>
                </a:solidFill>
                <a:latin typeface="Arial"/>
                <a:ea typeface="Microsoft YaHei"/>
                <a:cs typeface="Microsoft YaHei"/>
              </a:rPr>
              <a:t>环境工程专业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为什么重要 ·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废旧轮胎：增长最快的固体废物之一，俗称“黑色污染”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529584" cy="16002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728" cy="1600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3072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约 3 亿条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24912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我国每年新增报废轮胎（行业公开估算）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783080"/>
            <a:ext cx="3529584" cy="16002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783080"/>
            <a:ext cx="109728" cy="16002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938528"/>
            <a:ext cx="3072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逾 1000 万吨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24912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对应年报废重量，且仍逐年增长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3" y="1783080"/>
            <a:ext cx="3529584" cy="16002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3" y="1783080"/>
            <a:ext cx="109728" cy="1600200"/>
          </a:xfrm>
          <a:prstGeom prst="rect">
            <a:avLst/>
          </a:prstGeom>
          <a:solidFill>
            <a:srgbClr val="B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938528"/>
            <a:ext cx="30723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BE6B3A"/>
                </a:solidFill>
                <a:latin typeface="Arial"/>
                <a:ea typeface="Microsoft YaHei"/>
                <a:cs typeface="Microsoft YaHei"/>
              </a:rPr>
              <a:t>&gt;100 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724912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自然环境中难以降解的时间尺度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10908792" cy="2331720"/>
          </a:xfrm>
          <a:prstGeom prst="rect">
            <a:avLst/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86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堆存与不当处置带来的环境与安全风险</a:t>
            </a:r>
          </a:p>
        </p:txBody>
      </p:sp>
      <p:sp>
        <p:nvSpPr>
          <p:cNvPr id="20" name="Oval 19"/>
          <p:cNvSpPr/>
          <p:nvPr/>
        </p:nvSpPr>
        <p:spPr>
          <a:xfrm>
            <a:off x="969263" y="4453127"/>
            <a:ext cx="201168" cy="201168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1016" y="43891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占地与蚊媒  </a:t>
            </a:r>
            <a:r>
              <a:rPr sz="11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整胎中空、不可压缩，长期露天堆存，积水滋生蚊虫、传播疫病</a:t>
            </a:r>
          </a:p>
        </p:txBody>
      </p:sp>
      <p:sp>
        <p:nvSpPr>
          <p:cNvPr id="22" name="Oval 21"/>
          <p:cNvSpPr/>
          <p:nvPr/>
        </p:nvSpPr>
        <p:spPr>
          <a:xfrm>
            <a:off x="6272783" y="4453127"/>
            <a:ext cx="201168" cy="201168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43891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火灾隐患  </a:t>
            </a:r>
            <a:r>
              <a:rPr sz="11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胶料热值高、一旦起火极难扑灭，释放浓烟与有毒气体</a:t>
            </a:r>
          </a:p>
        </p:txBody>
      </p:sp>
      <p:sp>
        <p:nvSpPr>
          <p:cNvPr id="24" name="Oval 23"/>
          <p:cNvSpPr/>
          <p:nvPr/>
        </p:nvSpPr>
        <p:spPr>
          <a:xfrm>
            <a:off x="969263" y="5230367"/>
            <a:ext cx="201168" cy="201168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1016" y="5166359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土壤与水体  </a:t>
            </a:r>
            <a:r>
              <a:rPr sz="11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添加剂、重金属及微塑料随风化淋溶，污染土壤和地下水</a:t>
            </a:r>
          </a:p>
        </p:txBody>
      </p:sp>
      <p:sp>
        <p:nvSpPr>
          <p:cNvPr id="26" name="Oval 25"/>
          <p:cNvSpPr/>
          <p:nvPr/>
        </p:nvSpPr>
        <p:spPr>
          <a:xfrm>
            <a:off x="6272783" y="5230367"/>
            <a:ext cx="201168" cy="201168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5166359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资源浪费  </a:t>
            </a:r>
            <a:r>
              <a:rPr sz="11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含优质橡胶、炭黑与钢丝，简单填埋即丢弃了可回收资源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数据为行业公开统计/估算，用于说明问题规模；不同来源口径略有差异。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资源属性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轮胎是“放错位置的资源”：可回收组分占绝大多数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3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一条轮胎并非单一材料，而是橡胶、炭黑、钢丝与纤维的复合体。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天然/合成橡胶</a:t>
            </a:r>
            <a:r>
              <a:rPr sz="12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——可再生胶、可热解回收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炭黑</a:t>
            </a:r>
            <a:r>
              <a:rPr sz="12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——补强填料，热解可回收再炭黑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钢丝</a:t>
            </a:r>
            <a:r>
              <a:rPr sz="12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——可磁选回收，回炉炼钢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纺织纤维及添加剂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74920"/>
            <a:ext cx="4297680" cy="960120"/>
          </a:xfrm>
          <a:prstGeom prst="rect">
            <a:avLst/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38928"/>
            <a:ext cx="3931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结论：</a:t>
            </a:r>
            <a:r>
              <a:rPr sz="12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约 9 成质量是可循环材料——回收的核心在于“高值化”而非简单处置。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394960" y="1783080"/>
          <a:ext cx="61264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19088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整理自橡胶工业公开资料；不同胎型/规格组分比例有差异。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全景框架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资源化利用的总体框架：按“价值优先”分级的 4R 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2521458" cy="2286000"/>
          </a:xfrm>
          <a:prstGeom prst="rect">
            <a:avLst/>
          </a:prstGeom>
          <a:solidFill>
            <a:srgbClr val="F2F5F2"/>
          </a:solidFill>
          <a:ln w="19050">
            <a:solidFill>
              <a:srgbClr val="1F4E3D"/>
            </a:solidFill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2521458" cy="71323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75688"/>
            <a:ext cx="252145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减量化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252145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154680"/>
            <a:ext cx="219227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延长寿命·耐磨设计·合理充气</a:t>
            </a:r>
          </a:p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从源头减少报废量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9825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5857" y="2057400"/>
            <a:ext cx="2521458" cy="2286000"/>
          </a:xfrm>
          <a:prstGeom prst="rect">
            <a:avLst/>
          </a:prstGeom>
          <a:solidFill>
            <a:srgbClr val="F2F5F2"/>
          </a:solidFill>
          <a:ln w="19050">
            <a:solidFill>
              <a:srgbClr val="2C5F2D"/>
            </a:solidFill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5857" y="2057400"/>
            <a:ext cx="2521458" cy="71323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857" y="2075688"/>
            <a:ext cx="252145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再利用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5857" y="2807208"/>
            <a:ext cx="252145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Reuse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49" y="3154680"/>
            <a:ext cx="219227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翻新轮胎·整胎工程利用</a:t>
            </a:r>
          </a:p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保留制品形态，能耗最低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5603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2057400"/>
            <a:ext cx="2521458" cy="2286000"/>
          </a:xfrm>
          <a:prstGeom prst="rect">
            <a:avLst/>
          </a:prstGeom>
          <a:solidFill>
            <a:srgbClr val="F2F5F2"/>
          </a:solidFill>
          <a:ln w="19050">
            <a:solidFill>
              <a:srgbClr val="E8A33D"/>
            </a:solidFill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2057400"/>
            <a:ext cx="2521458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36" y="2075688"/>
            <a:ext cx="252145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再生利用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1636" y="2807208"/>
            <a:ext cx="252145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Recycle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7" y="3154680"/>
            <a:ext cx="219227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胶粉、再生胶、热解回收</a:t>
            </a:r>
          </a:p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材料重新进入产业链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1382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7413" y="2057400"/>
            <a:ext cx="2521458" cy="2286000"/>
          </a:xfrm>
          <a:prstGeom prst="rect">
            <a:avLst/>
          </a:prstGeom>
          <a:solidFill>
            <a:srgbClr val="F2F5F2"/>
          </a:solidFill>
          <a:ln w="19050">
            <a:solidFill>
              <a:srgbClr val="BE6B3A"/>
            </a:solidFill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7413" y="2057400"/>
            <a:ext cx="2521458" cy="713232"/>
          </a:xfrm>
          <a:prstGeom prst="rect">
            <a:avLst/>
          </a:prstGeom>
          <a:solidFill>
            <a:srgbClr val="B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7413" y="2075688"/>
            <a:ext cx="252145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能量回收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7413" y="2807208"/>
            <a:ext cx="252145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E6B3A"/>
                </a:solidFill>
                <a:latin typeface="Arial"/>
                <a:ea typeface="Microsoft YaHei"/>
                <a:cs typeface="Microsoft YaHei"/>
              </a:rPr>
              <a:t>Recover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5" y="3154680"/>
            <a:ext cx="219227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作替代燃料（TDF）</a:t>
            </a:r>
          </a:p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回收热值，价值最低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17720"/>
            <a:ext cx="10908792" cy="50292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资源/环境价值：高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617720"/>
            <a:ext cx="542239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低（应尽量减少占比）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10908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核心思想：</a:t>
            </a:r>
            <a:r>
              <a:rPr sz="13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优先延长寿命与再利用，其次让材料循环，最后才是能量回收与填埋——后续每条路线都对应其中一个层级。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框架依据固体废物管理“减量—再利用—再生—回收”通行优先级整理。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路径一 ·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原形利用与翻新：能耗最低、价值最高的“第一选择”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349240" cy="20574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349240" cy="566928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9834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轮胎翻新（Retreading）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4892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旧胎体 + 新胎面  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对仍完好的胎体重新硫化贴面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载重/航空胎为主  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可翻新 1–3 次，按里程更划算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节能减排显著  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较新胎大幅降低原材料与能耗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5349240" cy="201168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69080"/>
            <a:ext cx="5349240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49834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整胎直接利用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82312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土木工程  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护坡、挡土墙、河岸防护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港口/船舶  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码头护舷、缓冲防撞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• </a:t>
            </a: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生态与民用  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人工鱼礁、游乐设施、隔音墙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5285232" cy="420624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为什么把它放在第一位？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88920"/>
            <a:ext cx="4709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保留了轮胎的</a:t>
            </a: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制品形态与结构</a:t>
            </a:r>
            <a:r>
              <a:rPr sz="13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，无需破碎、再加工或高温处理。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因此</a:t>
            </a:r>
            <a:r>
              <a:rPr sz="130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单位能耗与碳排放最低</a:t>
            </a:r>
            <a:r>
              <a:rPr sz="13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，资源价值保留最完整。</a:t>
            </a:r>
          </a:p>
        </p:txBody>
      </p:sp>
      <p:sp>
        <p:nvSpPr>
          <p:cNvPr id="17" name="Oval 16"/>
          <p:cNvSpPr/>
          <p:nvPr/>
        </p:nvSpPr>
        <p:spPr>
          <a:xfrm>
            <a:off x="6693408" y="489204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80060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翻新一条载重胎：</a:t>
            </a:r>
            <a:r>
              <a:rPr sz="12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≈ 节省可观原料与能耗</a:t>
            </a:r>
          </a:p>
        </p:txBody>
      </p:sp>
      <p:sp>
        <p:nvSpPr>
          <p:cNvPr id="19" name="Oval 18"/>
          <p:cNvSpPr/>
          <p:nvPr/>
        </p:nvSpPr>
        <p:spPr>
          <a:xfrm>
            <a:off x="6693408" y="5458968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5367528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整胎工程利用：</a:t>
            </a:r>
            <a:r>
              <a:rPr sz="12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近零再加工能耗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翻新与整胎利用对应 4R 中的“再利用”层级，是优先推荐的处置方式。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路径二 · CRUMB RUBBER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胶粉利用：把废胎磨成“原料”，规模化进入材料市场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993392" cy="658368"/>
          </a:xfrm>
          <a:prstGeom prst="roundRect">
            <a:avLst/>
          </a:prstGeom>
          <a:solidFill>
            <a:srgbClr val="2C5F2D"/>
          </a:solidFill>
          <a:ln w="1524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9933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废旧轮胎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1783080"/>
            <a:ext cx="2560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1783080"/>
            <a:ext cx="1993392" cy="658368"/>
          </a:xfrm>
          <a:prstGeom prst="roundRect">
            <a:avLst/>
          </a:prstGeom>
          <a:solidFill>
            <a:srgbClr val="F2F5F2"/>
          </a:solidFill>
          <a:ln w="1524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783080"/>
            <a:ext cx="19933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破碎/除杂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896" y="1783080"/>
            <a:ext cx="2560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1783080"/>
            <a:ext cx="1993392" cy="658368"/>
          </a:xfrm>
          <a:prstGeom prst="roundRect">
            <a:avLst/>
          </a:prstGeom>
          <a:solidFill>
            <a:srgbClr val="F2F5F2"/>
          </a:solidFill>
          <a:ln w="1524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1783080"/>
            <a:ext cx="19933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常温或低温研磨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83080"/>
            <a:ext cx="2560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1783080"/>
            <a:ext cx="1993392" cy="658368"/>
          </a:xfrm>
          <a:prstGeom prst="roundRect">
            <a:avLst/>
          </a:prstGeom>
          <a:solidFill>
            <a:srgbClr val="F2F5F2"/>
          </a:solidFill>
          <a:ln w="1524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1783080"/>
            <a:ext cx="19933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分级胶粉(目数)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1744" y="1783080"/>
            <a:ext cx="2560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37776" y="1783080"/>
            <a:ext cx="1993392" cy="658368"/>
          </a:xfrm>
          <a:prstGeom prst="roundRect">
            <a:avLst/>
          </a:prstGeom>
          <a:solidFill>
            <a:srgbClr val="E8A33D"/>
          </a:solidFill>
          <a:ln w="1524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37776" y="1783080"/>
            <a:ext cx="19933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下游应用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80360"/>
            <a:ext cx="2521458" cy="233172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99056" y="3145536"/>
            <a:ext cx="603504" cy="6035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99056" y="3154679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" y="3867912"/>
            <a:ext cx="233857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橡胶改性沥青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297680"/>
            <a:ext cx="2192274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掺入胶粉改性道路沥青，提升抗裂、抗车辙与降噪，是吸纳量最大的出路之一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35857" y="2880360"/>
            <a:ext cx="2521458" cy="233172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94834" y="3145536"/>
            <a:ext cx="603504" cy="6035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4834" y="3154679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7297" y="3867912"/>
            <a:ext cx="233857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弹性铺装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449" y="4297680"/>
            <a:ext cx="2192274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塑胶跑道、运动场地、儿童活动场的弹性面层与垫层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1636" y="2880360"/>
            <a:ext cx="2521458" cy="233172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90613" y="3145536"/>
            <a:ext cx="603504" cy="603504"/>
          </a:xfrm>
          <a:prstGeom prst="ellipse">
            <a:avLst/>
          </a:prstGeom>
          <a:solidFill>
            <a:srgbClr val="B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0613" y="3154679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5" y="3867912"/>
            <a:ext cx="233857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橡胶制品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6227" y="4297680"/>
            <a:ext cx="2192274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防水卷材、密封件、橡胶地砖、汽车配件等再制造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27413" y="2880360"/>
            <a:ext cx="2521458" cy="233172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86390" y="3145536"/>
            <a:ext cx="603504" cy="603504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6390" y="3154679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8853" y="3867912"/>
            <a:ext cx="233857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建材与填料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92005" y="4297680"/>
            <a:ext cx="2192274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改性混凝土、轻质砌块、铁路道砟垫层等土木应用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440680"/>
            <a:ext cx="10908792" cy="658368"/>
          </a:xfrm>
          <a:prstGeom prst="rect">
            <a:avLst/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44068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要点：</a:t>
            </a:r>
            <a:r>
              <a:rPr sz="12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胶粉技术成熟、规模大，但多为“等值或降级”利用；其中橡胶改性沥青兼顾用量与性能，被视为重点方向。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路径三 · RECLAIM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再生胶与脱硫：让交联橡胶重新“可塑化”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硫化使橡胶分子形成三维交联网络，</a:t>
            </a:r>
            <a:r>
              <a:rPr sz="1350" b="1" i="0">
                <a:solidFill>
                  <a:srgbClr val="BE6B3A"/>
                </a:solidFill>
                <a:latin typeface="Arial"/>
                <a:ea typeface="Microsoft YaHei"/>
                <a:cs typeface="Microsoft YaHei"/>
              </a:rPr>
              <a:t>既不熔融也不溶解</a:t>
            </a:r>
            <a:r>
              <a:rPr sz="13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，这正是橡胶难以回收的根源。</a:t>
            </a:r>
          </a:p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再生（脱硫）的目标：</a:t>
            </a:r>
            <a:r>
              <a:rPr sz="13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选择性切断硫交联键，恢复部分塑性与加工性能。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46304" cy="512064"/>
          </a:xfrm>
          <a:prstGeom prst="rect">
            <a:avLst/>
          </a:prstGeom>
          <a:solidFill>
            <a:srgbClr val="6E7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物理法：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机械、热、超声、微波等输入能量打断交联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04487"/>
            <a:ext cx="146304" cy="512064"/>
          </a:xfrm>
          <a:prstGeom prst="rect">
            <a:avLst/>
          </a:prstGeom>
          <a:solidFill>
            <a:srgbClr val="B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04487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化学法：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加入再生剂/脱硫剂促进交联键断裂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62856"/>
            <a:ext cx="146304" cy="51206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62856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生物法：</a:t>
            </a:r>
            <a:r>
              <a:rPr sz="11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微生物或酶温和脱硫，绿色但较慢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40680"/>
            <a:ext cx="5486400" cy="658368"/>
          </a:xfrm>
          <a:prstGeom prst="rect">
            <a:avLst/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440680"/>
            <a:ext cx="5120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再生胶可部分替代生胶，</a:t>
            </a:r>
            <a:r>
              <a:rPr sz="12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降低成本、减少新胶消耗。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148072" cy="2057400"/>
          </a:xfrm>
          <a:prstGeom prst="rect">
            <a:avLst/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9933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37744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✓ </a:t>
            </a: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替代部分天然/合成生胶，节约资源与成本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3464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✓ </a:t>
            </a: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工艺相对成熟，已形成产业规模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9184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✓ </a:t>
            </a: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可循环再加工，链条比较灵活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041648"/>
            <a:ext cx="5148072" cy="20574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2062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E6B3A"/>
                </a:solidFill>
                <a:latin typeface="Arial"/>
                <a:ea typeface="Microsoft YaHei"/>
                <a:cs typeface="Microsoft YaHei"/>
              </a:rPr>
              <a:t>局限与挑战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59028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6B3A"/>
                </a:solidFill>
                <a:latin typeface="Arial"/>
                <a:ea typeface="Microsoft YaHei"/>
                <a:cs typeface="Microsoft YaHei"/>
              </a:rPr>
              <a:t>! </a:t>
            </a: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力学性能较原胶下降，掺用比例受限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04748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6B3A"/>
                </a:solidFill>
                <a:latin typeface="Arial"/>
                <a:ea typeface="Microsoft YaHei"/>
                <a:cs typeface="Microsoft YaHei"/>
              </a:rPr>
              <a:t>! </a:t>
            </a: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传统工艺可能产生异味与废气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50468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6B3A"/>
                </a:solidFill>
                <a:latin typeface="Arial"/>
                <a:ea typeface="Microsoft YaHei"/>
                <a:cs typeface="Microsoft YaHei"/>
              </a:rPr>
              <a:t>! </a:t>
            </a:r>
            <a:r>
              <a:rPr sz="11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向“绿色脱硫、高性能再生”升级中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再生胶属“再生利用”层级，关键在提升性能与降低脱硫过程的二次污染。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路径四 · PYROLYSIS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热解资源化：缺氧高温下“一胎四宝”全组分回收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657600" cy="1078992"/>
          </a:xfrm>
          <a:prstGeom prst="roundRect">
            <a:avLst/>
          </a:prstGeom>
          <a:solidFill>
            <a:srgbClr val="F2F5F2"/>
          </a:solidFill>
          <a:ln w="19050">
            <a:solidFill>
              <a:srgbClr val="2C5F2D"/>
            </a:solidFill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18872" cy="107899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32004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废旧轮胎/胶块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预处理：破碎、除杂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7791"/>
            <a:ext cx="3657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9544"/>
            <a:ext cx="3657600" cy="1078992"/>
          </a:xfrm>
          <a:prstGeom prst="roundRect">
            <a:avLst/>
          </a:prstGeom>
          <a:solidFill>
            <a:srgbClr val="F2F5F2"/>
          </a:solidFill>
          <a:ln w="19050">
            <a:solidFill>
              <a:srgbClr val="E8A33D"/>
            </a:solidFill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09544"/>
            <a:ext cx="118872" cy="10789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19272"/>
            <a:ext cx="32004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缺氧/无氧高温热解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约 400–600 ℃ 热裂解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42816"/>
            <a:ext cx="3657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44568"/>
            <a:ext cx="3657600" cy="1078992"/>
          </a:xfrm>
          <a:prstGeom prst="roundRect">
            <a:avLst/>
          </a:prstGeom>
          <a:solidFill>
            <a:srgbClr val="F2F5F2"/>
          </a:solidFill>
          <a:ln w="19050">
            <a:solidFill>
              <a:srgbClr val="1F4E3D"/>
            </a:solidFill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544568"/>
            <a:ext cx="118872" cy="107899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654296"/>
            <a:ext cx="32004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冷凝 + 气固分离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分离液/固/气三相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663440" y="1783080"/>
          <a:ext cx="68580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ectangle 17"/>
          <p:cNvSpPr/>
          <p:nvPr/>
        </p:nvSpPr>
        <p:spPr>
          <a:xfrm>
            <a:off x="4663440" y="5212080"/>
            <a:ext cx="6885432" cy="896112"/>
          </a:xfrm>
          <a:prstGeom prst="rect">
            <a:avLst/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5285232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产物去向：</a:t>
            </a:r>
          </a:p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BE6B3A"/>
                </a:solidFill>
                <a:latin typeface="Arial"/>
                <a:ea typeface="Microsoft YaHei"/>
                <a:cs typeface="Microsoft YaHei"/>
              </a:rPr>
              <a:t>热解油</a:t>
            </a:r>
            <a:r>
              <a:rPr sz="11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→燃料/化工原料  </a:t>
            </a:r>
            <a:r>
              <a:rPr sz="11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回收炭黑</a:t>
            </a:r>
            <a:r>
              <a:rPr sz="11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→补强填料/活性炭  </a:t>
            </a:r>
            <a:r>
              <a:rPr sz="1150" b="1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钢丝</a:t>
            </a:r>
            <a:r>
              <a:rPr sz="11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→回炉炼钢  </a:t>
            </a:r>
            <a:r>
              <a:rPr sz="115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可燃气</a:t>
            </a:r>
            <a:r>
              <a:rPr sz="110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→供热自给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产率为典型范围，随原料、温度与工艺差异较大；属“再生利用”中的化学回收路线。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横向对比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四条路线对比：没有“万能解”，按资源价值分级组合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08792" cy="397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554480"/>
                <a:gridCol w="2834640"/>
                <a:gridCol w="1417320"/>
                <a:gridCol w="2770632"/>
              </a:tblGrid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技术路线</a:t>
                      </a:r>
                    </a:p>
                  </a:txBody>
                  <a:tcPr marL="109728" marR="73152" marT="36576" marB="36576" anchor="ctr">
                    <a:solidFill>
                      <a:srgbClr val="1F4E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4R 层级</a:t>
                      </a:r>
                    </a:p>
                  </a:txBody>
                  <a:tcPr marL="109728" marR="73152" marT="36576" marB="36576" anchor="ctr">
                    <a:solidFill>
                      <a:srgbClr val="1F4E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主要产物/用途</a:t>
                      </a:r>
                    </a:p>
                  </a:txBody>
                  <a:tcPr marL="109728" marR="73152" marT="36576" marB="36576" anchor="ctr">
                    <a:solidFill>
                      <a:srgbClr val="1F4E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相对价值</a:t>
                      </a:r>
                    </a:p>
                  </a:txBody>
                  <a:tcPr marL="109728" marR="73152" marT="36576" marB="36576" anchor="ctr">
                    <a:solidFill>
                      <a:srgbClr val="1F4E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主要局限</a:t>
                      </a:r>
                    </a:p>
                  </a:txBody>
                  <a:tcPr marL="109728" marR="73152" marT="36576" marB="36576" anchor="ctr">
                    <a:solidFill>
                      <a:srgbClr val="1F4E3D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翻新 / 整胎利用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再利用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翻新胎、工程构件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E8A33D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★★★★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适用胎体有限、市场分散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胶粉利用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再生利用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改性沥青、弹性场地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E8A33D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★★★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多为降级利用、需求受政策影响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再生胶 / 脱硫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再生利用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再生胶替代生胶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E8A33D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★★★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性能下降、易二次污染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热解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再生(化学)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油、炭黑、钢丝、气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E8A33D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★★★☆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品质波动、尾气与经济性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能量回收(TDF)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能量回收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替代燃料热值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E8A33D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★★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仅回收热值、排放需严控</a:t>
                      </a:r>
                    </a:p>
                  </a:txBody>
                  <a:tcPr marL="109728" marR="73152" marT="36576" marB="36576" anchor="ctr">
                    <a:solidFill>
                      <a:srgbClr val="F2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19088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★为相对资源价值的定性示意，非定量评分；实际选择取决于胎源、规模与政策。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争议与瓶颈 ·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现实瓶颈：回收“看起来美好”，落地仍有四道坎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71516" cy="1874519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157984"/>
            <a:ext cx="566928" cy="566928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75688"/>
            <a:ext cx="41285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回收体系散、乱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24327"/>
            <a:ext cx="4082796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个体回收为主、来源分散，正规企业“吃不饱”，“小作坊”难监管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1874519"/>
            <a:ext cx="5271516" cy="1874519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6812" y="2157984"/>
            <a:ext cx="566928" cy="566928"/>
          </a:xfrm>
          <a:prstGeom prst="ellipse">
            <a:avLst/>
          </a:prstGeom>
          <a:solidFill>
            <a:srgbClr val="B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167127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7476" y="2075688"/>
            <a:ext cx="41285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二次污染风险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7476" y="2624327"/>
            <a:ext cx="4082796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土法炼油、落后热解尾气与废水处理不达标，造成新的污染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79"/>
            <a:ext cx="5271516" cy="1874519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" y="4352544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616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70247"/>
            <a:ext cx="41285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低值化与同质化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818888"/>
            <a:ext cx="4082796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大量产能集中在低端产品，高值化、差异化利用不足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4069079"/>
            <a:ext cx="5271516" cy="1874519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6812" y="4352544"/>
            <a:ext cx="566928" cy="56692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5956" y="43616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7476" y="4270247"/>
            <a:ext cx="41285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标准与经济性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7476" y="4818888"/>
            <a:ext cx="4082796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产品标准、激励政策不完善，部分路线盈利依赖补贴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综合观点 ·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出路：以“分级利用 + 生产者责任”构建闭环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① 分级利用：价值优先的处置顺序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120640" cy="71323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8404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再利用(翻新/整胎)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最优先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45536"/>
            <a:ext cx="4480560" cy="713232"/>
          </a:xfrm>
          <a:prstGeom prst="rect">
            <a:avLst/>
          </a:prstGeom>
          <a:solidFill>
            <a:srgbClr val="8FB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45536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再生利用(胶粉/再生胶)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145536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次之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05072"/>
            <a:ext cx="3840480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05072"/>
            <a:ext cx="25603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化学回收(热解)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005072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64608"/>
            <a:ext cx="3200400" cy="713232"/>
          </a:xfrm>
          <a:prstGeom prst="rect">
            <a:avLst/>
          </a:prstGeom>
          <a:solidFill>
            <a:srgbClr val="6E7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64608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能量回收 / 安全处置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864608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78308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② 生产者责任延伸（EPR）+ 循环闭环</a:t>
            </a:r>
          </a:p>
        </p:txBody>
      </p:sp>
      <p:sp>
        <p:nvSpPr>
          <p:cNvPr id="20" name="Oval 19"/>
          <p:cNvSpPr/>
          <p:nvPr/>
        </p:nvSpPr>
        <p:spPr>
          <a:xfrm>
            <a:off x="8311896" y="2459736"/>
            <a:ext cx="932688" cy="932688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22" name="Oval 21"/>
          <p:cNvSpPr/>
          <p:nvPr/>
        </p:nvSpPr>
        <p:spPr>
          <a:xfrm>
            <a:off x="9442435" y="3281121"/>
            <a:ext cx="932688" cy="932688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1579" y="3290265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销售/使用</a:t>
            </a:r>
          </a:p>
        </p:txBody>
      </p:sp>
      <p:sp>
        <p:nvSpPr>
          <p:cNvPr id="24" name="Oval 23"/>
          <p:cNvSpPr/>
          <p:nvPr/>
        </p:nvSpPr>
        <p:spPr>
          <a:xfrm>
            <a:off x="9010608" y="4610150"/>
            <a:ext cx="932688" cy="93268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9752" y="4619294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回收</a:t>
            </a:r>
          </a:p>
        </p:txBody>
      </p:sp>
      <p:sp>
        <p:nvSpPr>
          <p:cNvPr id="26" name="Oval 25"/>
          <p:cNvSpPr/>
          <p:nvPr/>
        </p:nvSpPr>
        <p:spPr>
          <a:xfrm>
            <a:off x="7613183" y="4610150"/>
            <a:ext cx="932688" cy="93268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2327" y="4619294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资源化</a:t>
            </a:r>
          </a:p>
        </p:txBody>
      </p:sp>
      <p:sp>
        <p:nvSpPr>
          <p:cNvPr id="28" name="Oval 27"/>
          <p:cNvSpPr/>
          <p:nvPr/>
        </p:nvSpPr>
        <p:spPr>
          <a:xfrm>
            <a:off x="7181356" y="3281121"/>
            <a:ext cx="932688" cy="93268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90500" y="3290265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再入产业链</a:t>
            </a:r>
          </a:p>
        </p:txBody>
      </p:sp>
      <p:sp>
        <p:nvSpPr>
          <p:cNvPr id="30" name="Oval 29"/>
          <p:cNvSpPr/>
          <p:nvPr/>
        </p:nvSpPr>
        <p:spPr>
          <a:xfrm>
            <a:off x="8069579" y="3406140"/>
            <a:ext cx="1417320" cy="1417320"/>
          </a:xfrm>
          <a:prstGeom prst="ellipse">
            <a:avLst/>
          </a:prstGeom>
          <a:noFill/>
          <a:ln w="2540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749039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闭环</a:t>
            </a:r>
          </a:p>
          <a:p>
            <a:pPr algn="ctr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Circular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Arial"/>
                <a:ea typeface="Microsoft YaHei"/>
                <a:cs typeface="Microsoft YaHei"/>
              </a:rPr>
              <a:t>一句话：</a:t>
            </a:r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让“谁生产、谁负责回收”，叠加价值优先的分级利用，把废旧轮胎真正纳入循环经济。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未来方向 ·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发展趋势：向“绿色、高值、智能”升级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507741" cy="32004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507741" cy="14630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73327" y="2368296"/>
            <a:ext cx="841248" cy="84124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73327" y="2368296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337560"/>
            <a:ext cx="228828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绿色低碳工艺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31920"/>
            <a:ext cx="214198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连续化、清洁化热解；绿色脱硫；过程能量自给与尾气深度治理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0429" y="1920240"/>
            <a:ext cx="2507741" cy="32004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0429" y="1920240"/>
            <a:ext cx="2507741" cy="1463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73676" y="2368296"/>
            <a:ext cx="841248" cy="8412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3676" y="2368296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157" y="3337560"/>
            <a:ext cx="228828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产品高值化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09" y="3931920"/>
            <a:ext cx="214198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热解油提质、回收炭黑改性、制活性炭等高附加值产品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0779" y="1920240"/>
            <a:ext cx="2507741" cy="32004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779" y="1920240"/>
            <a:ext cx="2507741" cy="14630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74026" y="2368296"/>
            <a:ext cx="841248" cy="841248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74026" y="2368296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7" y="3337560"/>
            <a:ext cx="228828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智能回收体系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659" y="3931920"/>
            <a:ext cx="214198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数字化溯源、智能分拣与区域化回收网络，提升正规回收率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1129" y="1920240"/>
            <a:ext cx="2507741" cy="320040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  <a:effectLst>
            <a:outerShdw blurRad="90000" dist="38100" dir="5400000" rotWithShape="0">
              <a:srgbClr val="9AA89E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1129" y="1920240"/>
            <a:ext cx="2507741" cy="146304"/>
          </a:xfrm>
          <a:prstGeom prst="rect">
            <a:avLst/>
          </a:prstGeom>
          <a:solidFill>
            <a:srgbClr val="B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4376" y="2368296"/>
            <a:ext cx="841248" cy="841248"/>
          </a:xfrm>
          <a:prstGeom prst="ellipse">
            <a:avLst/>
          </a:prstGeom>
          <a:solidFill>
            <a:srgbClr val="B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4376" y="2368296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0857" y="3337560"/>
            <a:ext cx="228828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绿色设计与政策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4009" y="3931920"/>
            <a:ext cx="214198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可回收/易翻新的轮胎设计 + EPR、标准与激励协同发力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440680"/>
            <a:ext cx="10908792" cy="658368"/>
          </a:xfrm>
          <a:prstGeom prst="rect">
            <a:avLst/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4068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F4E3D"/>
                </a:solidFill>
                <a:latin typeface="Arial"/>
                <a:ea typeface="Microsoft YaHei"/>
                <a:cs typeface="Microsoft YaHei"/>
              </a:rPr>
              <a:t>趋势主线：</a:t>
            </a:r>
            <a:r>
              <a:rPr sz="1250" b="0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从“处理废物”转向“经营资源”——技术、产品、体系与政策四轮驱动。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" y="51206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Arial"/>
                <a:ea typeface="Microsoft YaHei"/>
                <a:cs typeface="Microsoft YaHei"/>
              </a:rPr>
              <a:t>总结 ·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小结：把“黑色污染”变成“城市矿产”</a:t>
            </a:r>
          </a:p>
        </p:txBody>
      </p:sp>
      <p:sp>
        <p:nvSpPr>
          <p:cNvPr id="6" name="Oval 5"/>
          <p:cNvSpPr/>
          <p:nvPr/>
        </p:nvSpPr>
        <p:spPr>
          <a:xfrm>
            <a:off x="630936" y="1975103"/>
            <a:ext cx="566928" cy="566928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984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11095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是负担，更是资源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039112"/>
            <a:ext cx="36576" cy="566928"/>
          </a:xfrm>
          <a:prstGeom prst="rect">
            <a:avLst/>
          </a:prstGeom>
          <a:solidFill>
            <a:srgbClr val="D2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911095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约九成质量可循环——橡胶、炭黑与钢丝都值得拿回来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" y="2999232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30083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35224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路线分级、各有取舍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3063240"/>
            <a:ext cx="36576" cy="566928"/>
          </a:xfrm>
          <a:prstGeom prst="rect">
            <a:avLst/>
          </a:prstGeom>
          <a:solidFill>
            <a:srgbClr val="D2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935224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翻新→胶粉/再生胶→热解→能量回收，价值递减、互为补充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" y="4023360"/>
            <a:ext cx="566928" cy="566928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40325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59352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瓶颈在体系与品质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4087368"/>
            <a:ext cx="36576" cy="566928"/>
          </a:xfrm>
          <a:prstGeom prst="rect">
            <a:avLst/>
          </a:prstGeom>
          <a:solidFill>
            <a:srgbClr val="D2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3959352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回收散乱、二次污染、低值化与标准不足是主要短板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" y="5047488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5056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8348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B2B2B"/>
                </a:solidFill>
                <a:latin typeface="Arial"/>
                <a:ea typeface="Microsoft YaHei"/>
                <a:cs typeface="Microsoft YaHei"/>
              </a:rPr>
              <a:t>出路是循环经济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5111496"/>
            <a:ext cx="36576" cy="566928"/>
          </a:xfrm>
          <a:prstGeom prst="rect">
            <a:avLst/>
          </a:prstGeom>
          <a:solidFill>
            <a:srgbClr val="D2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4983480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分级利用 + 生产者责任，推动绿色、高值、智能化升级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7B72"/>
                </a:solidFill>
                <a:latin typeface="Arial"/>
                <a:ea typeface="Microsoft YaHei"/>
                <a:cs typeface="Microsoft YaHei"/>
              </a:rPr>
              <a:t>作为环境工程的研究与实践方向，废旧轮胎的高值化资源化兼具环境与经济价值。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59" y="4114800"/>
            <a:ext cx="3291840" cy="3291840"/>
          </a:xfrm>
          <a:prstGeom prst="ellipse">
            <a:avLst/>
          </a:prstGeom>
          <a:noFill/>
          <a:ln w="1651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59" y="4572000"/>
            <a:ext cx="2377440" cy="2377440"/>
          </a:xfrm>
          <a:prstGeom prst="ellipse">
            <a:avLst/>
          </a:prstGeom>
          <a:noFill/>
          <a:ln w="1651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59" y="5029200"/>
            <a:ext cx="1463040" cy="1463040"/>
          </a:xfrm>
          <a:prstGeom prst="ellipse">
            <a:avLst/>
          </a:prstGeom>
          <a:noFill/>
          <a:ln w="1651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09859" y="5372100"/>
            <a:ext cx="777240" cy="777240"/>
          </a:xfrm>
          <a:prstGeom prst="ellipse">
            <a:avLst/>
          </a:prstGeom>
          <a:solidFill>
            <a:srgbClr val="2C5F2D"/>
          </a:solidFill>
          <a:ln w="16510">
            <a:solidFill>
              <a:srgbClr val="8F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谢谢聆听!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欢迎批评指正与交流讨论</a:t>
            </a:r>
          </a:p>
        </p:txBody>
      </p:sp>
      <p:sp>
        <p:nvSpPr>
          <p:cNvPr id="9" name="Oval 8"/>
          <p:cNvSpPr/>
          <p:nvPr/>
        </p:nvSpPr>
        <p:spPr>
          <a:xfrm>
            <a:off x="877824" y="4562856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453128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4EEE7"/>
                </a:solidFill>
                <a:latin typeface="Arial"/>
                <a:ea typeface="Microsoft YaHei"/>
                <a:cs typeface="Microsoft YaHei"/>
              </a:rPr>
              <a:t>废旧轮胎的回收与资源化利用 · 环境工程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